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2" r:id="rId2"/>
    <p:sldId id="263" r:id="rId3"/>
    <p:sldId id="264" r:id="rId4"/>
    <p:sldId id="265" r:id="rId5"/>
    <p:sldId id="259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67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000000"/>
    <a:srgbClr val="40D3DD"/>
    <a:srgbClr val="E5AC00"/>
    <a:srgbClr val="00070E"/>
    <a:srgbClr val="FCE028"/>
    <a:srgbClr val="FCA81C"/>
    <a:srgbClr val="CCCCCC"/>
    <a:srgbClr val="182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1934" y="53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081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23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37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0870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0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42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52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5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72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27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63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1208F-0235-4754-9C74-C4AF7DC205ED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77B40-B7D5-474E-9C7B-37553816AE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617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F893D4B-35AF-A5CB-8D36-BB437D63A6BE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007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Imagem digital fictícia de personagem de jogo de vídeo game&#10;&#10;O conteúdo gerado por IA pode estar incorreto.">
            <a:extLst>
              <a:ext uri="{FF2B5EF4-FFF2-40B4-BE49-F238E27FC236}">
                <a16:creationId xmlns:a16="http://schemas.microsoft.com/office/drawing/2014/main" id="{D667CBD5-D2A0-0C55-5A1D-45C473173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0"/>
            <a:ext cx="8534400" cy="128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4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rpo">
            <a:extLst>
              <a:ext uri="{FF2B5EF4-FFF2-40B4-BE49-F238E27FC236}">
                <a16:creationId xmlns:a16="http://schemas.microsoft.com/office/drawing/2014/main" id="{2636C5DF-2E43-A506-0A02-20A8EC22C014}"/>
              </a:ext>
            </a:extLst>
          </p:cNvPr>
          <p:cNvSpPr txBox="1"/>
          <p:nvPr/>
        </p:nvSpPr>
        <p:spPr>
          <a:xfrm>
            <a:off x="1238250" y="2761476"/>
            <a:ext cx="7658100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inteligência artificial generativa é o novo campo de batalha do conhecimento — e os prompts são suas armas mais poderosas.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 A Estratégia Invisível: A Arte da Engenharia de Prompt, Cristovão Cavalcante revela os princípios ocultos que regem a comunicação entre o humano e a máquina, mostrando como transformar simples instruções em obras de precisão criativa.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Inspirado na filosofia de A Arte da Guerra, este livro une sabedoria milenar e técnica moderna, explorando: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componentes essenciais de um prompt perfeito;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estratégias mentais usadas pelos engenheiros de IA mais eficientes;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erros invisíveis que sabotam suas interações com modelos de linguagem;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o caminho do domínio criativo sobre as inteligências generativas.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linha deste livro é um passo em direção ao controle total sobre a IA — um manual para quem deseja pensar como estrategista e criar como mestre.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Domine a arte oculta de conversar com a máquina.</a:t>
            </a: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estratégia é invisível — até que você a compreende.</a:t>
            </a:r>
          </a:p>
        </p:txBody>
      </p:sp>
      <p:sp>
        <p:nvSpPr>
          <p:cNvPr id="14" name="Título">
            <a:extLst>
              <a:ext uri="{FF2B5EF4-FFF2-40B4-BE49-F238E27FC236}">
                <a16:creationId xmlns:a16="http://schemas.microsoft.com/office/drawing/2014/main" id="{93D7D498-C540-8304-FFCD-FF9A785CC8F1}"/>
              </a:ext>
            </a:extLst>
          </p:cNvPr>
          <p:cNvSpPr txBox="1"/>
          <p:nvPr/>
        </p:nvSpPr>
        <p:spPr>
          <a:xfrm>
            <a:off x="704850" y="533400"/>
            <a:ext cx="81915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Em um mundo dominado por algoritmos, vence quem entende a mente das máquinas.</a:t>
            </a:r>
          </a:p>
        </p:txBody>
      </p:sp>
    </p:spTree>
    <p:extLst>
      <p:ext uri="{BB962C8B-B14F-4D97-AF65-F5344CB8AC3E}">
        <p14:creationId xmlns:p14="http://schemas.microsoft.com/office/powerpoint/2010/main" val="360623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DACFB57C-89C7-BADE-49A4-A0D40ACD8AA7}"/>
              </a:ext>
            </a:extLst>
          </p:cNvPr>
          <p:cNvSpPr/>
          <p:nvPr/>
        </p:nvSpPr>
        <p:spPr>
          <a:xfrm>
            <a:off x="0" y="-16014"/>
            <a:ext cx="9601200" cy="1280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orpo">
            <a:extLst>
              <a:ext uri="{FF2B5EF4-FFF2-40B4-BE49-F238E27FC236}">
                <a16:creationId xmlns:a16="http://schemas.microsoft.com/office/drawing/2014/main" id="{8F2CD948-DC6F-59C0-2F5C-9F0978EC2A84}"/>
              </a:ext>
            </a:extLst>
          </p:cNvPr>
          <p:cNvSpPr txBox="1"/>
          <p:nvPr/>
        </p:nvSpPr>
        <p:spPr>
          <a:xfrm>
            <a:off x="1238250" y="3550950"/>
            <a:ext cx="7658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Cristovão Cavalcante é pesquisador, criador e especialista em inteligência artificial generativa. </a:t>
            </a:r>
          </a:p>
          <a:p>
            <a:pPr algn="ctr"/>
            <a:r>
              <a:rPr lang="pt-BR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 na interseção entre criatividade humana e tecnologia, desenvolvendo projetos que unem </a:t>
            </a:r>
          </a:p>
          <a:p>
            <a:pPr algn="ctr"/>
            <a:r>
              <a:rPr lang="pt-BR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engenharia de prompt, narrativa digital e automação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criativa.</a:t>
            </a:r>
          </a:p>
        </p:txBody>
      </p:sp>
      <p:sp>
        <p:nvSpPr>
          <p:cNvPr id="6" name="Título">
            <a:extLst>
              <a:ext uri="{FF2B5EF4-FFF2-40B4-BE49-F238E27FC236}">
                <a16:creationId xmlns:a16="http://schemas.microsoft.com/office/drawing/2014/main" id="{D550DFD0-4830-510F-D7CA-400E5260E57E}"/>
              </a:ext>
            </a:extLst>
          </p:cNvPr>
          <p:cNvSpPr txBox="1"/>
          <p:nvPr/>
        </p:nvSpPr>
        <p:spPr>
          <a:xfrm>
            <a:off x="704850" y="533400"/>
            <a:ext cx="8191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FFD966"/>
                </a:solidFill>
                <a:latin typeface="Impact" panose="020B0806030902050204" pitchFamily="34" charset="0"/>
              </a:rPr>
              <a:t>SOBRE O AUTOR</a:t>
            </a: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4250FAD-332E-7C89-9220-ECB8BDA79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0"/>
            <a:ext cx="8534400" cy="128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2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513A7-9B97-1F36-4B43-28B029D43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>
            <a:extLst>
              <a:ext uri="{FF2B5EF4-FFF2-40B4-BE49-F238E27FC236}">
                <a16:creationId xmlns:a16="http://schemas.microsoft.com/office/drawing/2014/main" id="{16789B11-D092-D313-F330-B2858EF866E0}"/>
              </a:ext>
            </a:extLst>
          </p:cNvPr>
          <p:cNvSpPr/>
          <p:nvPr/>
        </p:nvSpPr>
        <p:spPr>
          <a:xfrm>
            <a:off x="0" y="0"/>
            <a:ext cx="9601200" cy="13487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0" dirty="0">
              <a:latin typeface="Impact" panose="020B0806030902050204" pitchFamily="34" charset="0"/>
            </a:endParaRPr>
          </a:p>
        </p:txBody>
      </p:sp>
      <p:sp>
        <p:nvSpPr>
          <p:cNvPr id="5" name="capítulo 3">
            <a:extLst>
              <a:ext uri="{FF2B5EF4-FFF2-40B4-BE49-F238E27FC236}">
                <a16:creationId xmlns:a16="http://schemas.microsoft.com/office/drawing/2014/main" id="{7DF408E0-91A9-753F-343D-EB07C41913E4}"/>
              </a:ext>
            </a:extLst>
          </p:cNvPr>
          <p:cNvSpPr txBox="1"/>
          <p:nvPr/>
        </p:nvSpPr>
        <p:spPr>
          <a:xfrm>
            <a:off x="266700" y="4007525"/>
            <a:ext cx="93345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0" dirty="0">
                <a:ln>
                  <a:solidFill>
                    <a:srgbClr val="FFC000"/>
                  </a:solidFill>
                </a:ln>
                <a:noFill/>
                <a:latin typeface="Impact" panose="020B0806030902050204" pitchFamily="34" charset="0"/>
              </a:rPr>
              <a:t>Prólogo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3020CD-7766-50A8-BC4C-E0601EEA3070}"/>
              </a:ext>
            </a:extLst>
          </p:cNvPr>
          <p:cNvSpPr/>
          <p:nvPr/>
        </p:nvSpPr>
        <p:spPr>
          <a:xfrm>
            <a:off x="1214438" y="9235440"/>
            <a:ext cx="7228522" cy="18288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81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6B96-23D1-1094-B963-C42AF05F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C40E861C-895A-2B41-BE4A-112BB02BF4DC}"/>
              </a:ext>
            </a:extLst>
          </p:cNvPr>
          <p:cNvSpPr txBox="1"/>
          <p:nvPr/>
        </p:nvSpPr>
        <p:spPr>
          <a:xfrm>
            <a:off x="1920240" y="1306056"/>
            <a:ext cx="648081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história sempre pertenceu a quem domina a linguagem.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Dos líderes que comandavam exércitos com palavras aos pensadores que moldaram civilizações com ideias, o verbo sempre foi a ferramenta suprema de poder.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Agora, essa linguagem evoluiu — e se transformou no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simples comando pode criar textos, imagens, músicas ou até universos inteiros.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 apenas quem entende a mente da máquina consegue fazer dela uma aliada.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engenheiro de prompt é o novo estrategista dessa era: ele não apenas escreve —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direciona a inteligência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39A0FEFC-C3AD-F392-B9D5-3B102D2CE01D}"/>
              </a:ext>
            </a:extLst>
          </p:cNvPr>
          <p:cNvSpPr txBox="1"/>
          <p:nvPr/>
        </p:nvSpPr>
        <p:spPr>
          <a:xfrm>
            <a:off x="1920240" y="22098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NOVA GUERRA DA INTELIGÊNCIA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AB4BE3D-29CB-01DE-4907-D30830C97B7F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595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12D70-751F-4C7F-3050-63FC6743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>
            <a:extLst>
              <a:ext uri="{FF2B5EF4-FFF2-40B4-BE49-F238E27FC236}">
                <a16:creationId xmlns:a16="http://schemas.microsoft.com/office/drawing/2014/main" id="{70DC27B7-ED7B-CA88-7A95-4981A154E608}"/>
              </a:ext>
            </a:extLst>
          </p:cNvPr>
          <p:cNvSpPr/>
          <p:nvPr/>
        </p:nvSpPr>
        <p:spPr>
          <a:xfrm>
            <a:off x="0" y="0"/>
            <a:ext cx="9601200" cy="13487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0" dirty="0">
              <a:latin typeface="Impact" panose="020B0806030902050204" pitchFamily="34" charset="0"/>
            </a:endParaRPr>
          </a:p>
        </p:txBody>
      </p:sp>
      <p:sp>
        <p:nvSpPr>
          <p:cNvPr id="4" name="capítulo 3">
            <a:extLst>
              <a:ext uri="{FF2B5EF4-FFF2-40B4-BE49-F238E27FC236}">
                <a16:creationId xmlns:a16="http://schemas.microsoft.com/office/drawing/2014/main" id="{D000DB78-4ED9-9D22-9FEA-04782AA5D556}"/>
              </a:ext>
            </a:extLst>
          </p:cNvPr>
          <p:cNvSpPr txBox="1"/>
          <p:nvPr/>
        </p:nvSpPr>
        <p:spPr>
          <a:xfrm>
            <a:off x="1214439" y="6400800"/>
            <a:ext cx="722852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/>
              <a:t>🧠</a:t>
            </a:r>
            <a:r>
              <a:rPr lang="pt-BR" sz="8800" dirty="0">
                <a:solidFill>
                  <a:srgbClr val="40D3DD"/>
                </a:solidFill>
                <a:latin typeface="Impact" panose="020B0806030902050204" pitchFamily="34" charset="0"/>
              </a:rPr>
              <a:t>O Chamado do Estrategista</a:t>
            </a:r>
          </a:p>
        </p:txBody>
      </p:sp>
      <p:sp>
        <p:nvSpPr>
          <p:cNvPr id="5" name="capítulo 3">
            <a:extLst>
              <a:ext uri="{FF2B5EF4-FFF2-40B4-BE49-F238E27FC236}">
                <a16:creationId xmlns:a16="http://schemas.microsoft.com/office/drawing/2014/main" id="{692AEC27-FB88-CCC5-9FE1-81C1D54F942A}"/>
              </a:ext>
            </a:extLst>
          </p:cNvPr>
          <p:cNvSpPr txBox="1"/>
          <p:nvPr/>
        </p:nvSpPr>
        <p:spPr>
          <a:xfrm>
            <a:off x="1214438" y="2381250"/>
            <a:ext cx="660558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FFC000"/>
                  </a:solidFill>
                </a:ln>
                <a:noFill/>
                <a:latin typeface="Impact" panose="020B0806030902050204" pitchFamily="34" charset="0"/>
              </a:rPr>
              <a:t>01</a:t>
            </a:r>
            <a:endParaRPr lang="pt-BR" sz="11500" dirty="0">
              <a:ln>
                <a:solidFill>
                  <a:srgbClr val="FFC000"/>
                </a:solidFill>
              </a:ln>
              <a:noFill/>
              <a:latin typeface="Impact" panose="020B080603090205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2ABB6EE-469E-4BF7-9CC1-C4076604641B}"/>
              </a:ext>
            </a:extLst>
          </p:cNvPr>
          <p:cNvSpPr/>
          <p:nvPr/>
        </p:nvSpPr>
        <p:spPr>
          <a:xfrm>
            <a:off x="1214438" y="9235440"/>
            <a:ext cx="7228522" cy="18288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pítulo 3">
            <a:extLst>
              <a:ext uri="{FF2B5EF4-FFF2-40B4-BE49-F238E27FC236}">
                <a16:creationId xmlns:a16="http://schemas.microsoft.com/office/drawing/2014/main" id="{7DBA16DD-A1B5-AB86-DA8A-A8761FC49A7D}"/>
              </a:ext>
            </a:extLst>
          </p:cNvPr>
          <p:cNvSpPr txBox="1"/>
          <p:nvPr/>
        </p:nvSpPr>
        <p:spPr>
          <a:xfrm>
            <a:off x="514350" y="9697073"/>
            <a:ext cx="90868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solidFill>
                  <a:schemeClr val="bg1"/>
                </a:solidFill>
              </a:rPr>
              <a:t>Nem </a:t>
            </a:r>
            <a:r>
              <a:rPr lang="pt-BR" sz="2000" dirty="0" err="1">
                <a:solidFill>
                  <a:schemeClr val="bg1"/>
                </a:solidFill>
              </a:rPr>
              <a:t>tomundo</a:t>
            </a:r>
            <a:r>
              <a:rPr lang="pt-BR" sz="2000" dirty="0">
                <a:solidFill>
                  <a:schemeClr val="bg1"/>
                </a:solidFill>
              </a:rPr>
              <a:t> percebe quando um novo papel nasce no mundo.</a:t>
            </a:r>
            <a:br>
              <a:rPr lang="pt-BR" sz="2000" dirty="0">
                <a:solidFill>
                  <a:schemeClr val="bg1"/>
                </a:solidFill>
              </a:rPr>
            </a:br>
            <a:r>
              <a:rPr lang="pt-BR" sz="2000" dirty="0">
                <a:solidFill>
                  <a:schemeClr val="bg1"/>
                </a:solidFill>
              </a:rPr>
              <a:t>Algumas profissões são nomeadas com estardalhaço. Outras surgem como sussurros — silenciosas, invisíveis, mas essenciais.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</a:rPr>
              <a:t>No coração da revolução da inteligência artificial generativa, um novo tipo de líder está emergindo: o </a:t>
            </a:r>
            <a:r>
              <a:rPr lang="pt-BR" sz="2000" b="1" dirty="0">
                <a:solidFill>
                  <a:schemeClr val="bg1"/>
                </a:solidFill>
              </a:rPr>
              <a:t>estrategista de prompts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</a:rPr>
              <a:t>Ele não veste uniforme. Não carrega ferramentas tradicionais. Sua única arma é a </a:t>
            </a:r>
            <a:r>
              <a:rPr lang="pt-BR" sz="2000" b="1" dirty="0">
                <a:solidFill>
                  <a:schemeClr val="bg1"/>
                </a:solidFill>
              </a:rPr>
              <a:t>clareza da intenção</a:t>
            </a:r>
            <a:r>
              <a:rPr lang="pt-BR" sz="2000" dirty="0">
                <a:solidFill>
                  <a:schemeClr val="bg1"/>
                </a:solidFill>
              </a:rPr>
              <a:t>. Seu campo de atuação é vasto — do marketing à ciência, da arte à automação. Seu desafio: </a:t>
            </a:r>
            <a:r>
              <a:rPr lang="pt-BR" sz="2000" b="1" dirty="0">
                <a:solidFill>
                  <a:schemeClr val="bg1"/>
                </a:solidFill>
              </a:rPr>
              <a:t>comandar inteligências que não pensam como humanos, mas que obedecem à lógica de quem sabe o que quer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</a:rPr>
              <a:t>Este é o chamado do estrategista.</a:t>
            </a:r>
          </a:p>
          <a:p>
            <a:pPr algn="ctr"/>
            <a:endParaRPr lang="pt-BR" sz="2800" dirty="0">
              <a:solidFill>
                <a:srgbClr val="40D3DD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6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B539F-3D12-1DA1-6E89-C8D00B5A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505B10C9-AD70-D512-8BD6-B7DF80163E1F}"/>
              </a:ext>
            </a:extLst>
          </p:cNvPr>
          <p:cNvSpPr txBox="1"/>
          <p:nvPr/>
        </p:nvSpPr>
        <p:spPr>
          <a:xfrm>
            <a:off x="1794508" y="1477506"/>
            <a:ext cx="630936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Há momentos em que o mundo muda sem fazer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barulho.Nenhum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anúncio, nenhuma revolução visível — apenas um novo tipo de consciência que surge silenciosamente.</a:t>
            </a:r>
          </a:p>
          <a:p>
            <a:pPr algn="just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Vivemos um desses momentos agora.</a:t>
            </a:r>
          </a:p>
          <a:p>
            <a:pPr algn="just"/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humanidade entrou em uma era em que a inteligência já não é exclusividade do ser humano. Modelos generativos escrevem, desenham, planejam, decidem.</a:t>
            </a:r>
          </a:p>
          <a:p>
            <a:pPr algn="just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Mas, entre a mente humana e a mente artificial, existe algo que nenhuma máquina possui: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intenção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é nesse espaço invisível que nasce o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estrategista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aquele que não apenas usa a IA, mas 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 com propósito e clareza.</a:t>
            </a:r>
            <a:endParaRPr lang="pt-BR" sz="2400" b="1" dirty="0"/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A731080F-F824-78DB-DD52-CD806405B816}"/>
              </a:ext>
            </a:extLst>
          </p:cNvPr>
          <p:cNvSpPr txBox="1"/>
          <p:nvPr/>
        </p:nvSpPr>
        <p:spPr>
          <a:xfrm>
            <a:off x="1563051" y="22098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Chamado do Estrategista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41725E-00C3-7C61-0E18-E31D067944F4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0369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50270-36D7-DBED-6796-BB42D5FF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10F158F8-15E1-A16B-754E-5F2DECF2E0A6}"/>
              </a:ext>
            </a:extLst>
          </p:cNvPr>
          <p:cNvSpPr txBox="1"/>
          <p:nvPr/>
        </p:nvSpPr>
        <p:spPr>
          <a:xfrm>
            <a:off x="2122804" y="1439406"/>
            <a:ext cx="588645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mundo está cheio de operadores, mas carece de estrategistas.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Qualquer pessoa pode digitar um comando; poucos sabem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e por que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formular o certo.</a:t>
            </a:r>
          </a:p>
          <a:p>
            <a:pPr>
              <a:buNone/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estrategista de prompts é diferente.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não digita para testar — ele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projeta para direcionar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Compreende que cada palavra é uma semente de resultado, e que o terreno onde ela é plantada — o contexto — define o que vai florescer.</a:t>
            </a:r>
          </a:p>
          <a:p>
            <a:pPr>
              <a:buNone/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é, portanto, o arquiteto da comunicação entre o humano e a máquina.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apenas cria, mas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orquestra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E, ao fazer isso, transforma linhas de texto em instrumentos de poder.</a:t>
            </a:r>
          </a:p>
          <a:p>
            <a:endParaRPr lang="pt-BR" sz="2400" dirty="0"/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CB0E9155-98C5-FC0D-71C4-1B71B1983928}"/>
              </a:ext>
            </a:extLst>
          </p:cNvPr>
          <p:cNvSpPr txBox="1"/>
          <p:nvPr/>
        </p:nvSpPr>
        <p:spPr>
          <a:xfrm>
            <a:off x="1679892" y="22098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nascimento de um novo papel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E4D472-FC77-290B-37F4-1028335630D7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219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7239-DAD7-BEAB-29FD-A861065F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E5FDF22D-BBD7-C24D-CC87-B34DD2F6CEF1}"/>
              </a:ext>
            </a:extLst>
          </p:cNvPr>
          <p:cNvSpPr txBox="1"/>
          <p:nvPr/>
        </p:nvSpPr>
        <p:spPr>
          <a:xfrm>
            <a:off x="2091690" y="1896606"/>
            <a:ext cx="588645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estrategista é um general digital.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Seu campo de batalha não é de terra e aço, mas de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e significados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palavra é um movimento; cada prompt, uma tática.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sabe que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é o tamanho da ordem, mas a precisão da instrução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define o resultado.</a:t>
            </a:r>
          </a:p>
          <a:p>
            <a:pPr>
              <a:buNone/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Enquanto o operador se apressa em pedir, o estrategista observa, planeja e guia.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entende que clareza é força e que a IA não se vence pela força, mas pela direção.</a:t>
            </a:r>
          </a:p>
          <a:p>
            <a:pPr>
              <a:buNone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todo bom comandante, ele domina o mapa antes da guerra — e o mapa, neste caso, é o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pensamento estruturado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2400" dirty="0"/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C189ACDA-570F-F3D8-313F-CC005C574AC7}"/>
              </a:ext>
            </a:extLst>
          </p:cNvPr>
          <p:cNvSpPr txBox="1"/>
          <p:nvPr/>
        </p:nvSpPr>
        <p:spPr>
          <a:xfrm>
            <a:off x="1414462" y="145226"/>
            <a:ext cx="6772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Pensar como general, agir como engenheiro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CD16FB9-4E07-83D9-4827-0CC433BDE8AD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7954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962F-53C4-A9FF-F09A-579261B66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84F4C11E-0EAA-0735-03FF-2FEAAD1D4C61}"/>
              </a:ext>
            </a:extLst>
          </p:cNvPr>
          <p:cNvSpPr txBox="1"/>
          <p:nvPr/>
        </p:nvSpPr>
        <p:spPr>
          <a:xfrm>
            <a:off x="2280919" y="1873746"/>
            <a:ext cx="588645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inimigo do estrategista não é a IA, é a ambiguidade.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máquina não adivinha — ela interpreta.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quando o humano é vago, o resultado se perde.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isso, o estrategista busca 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clareza total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intenção, contexto e formato.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Diz o que quer, o que não quer e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quer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clareza é sua espada; a intenção, seu escudo.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E, ao dominar esses elementos, ele conquista o terreno onde outros se perdem — o terreno do significado</a:t>
            </a:r>
          </a:p>
          <a:p>
            <a:endParaRPr lang="pt-BR" sz="2400" dirty="0"/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00E85751-B892-F310-0576-06E4EED872CD}"/>
              </a:ext>
            </a:extLst>
          </p:cNvPr>
          <p:cNvSpPr txBox="1"/>
          <p:nvPr/>
        </p:nvSpPr>
        <p:spPr>
          <a:xfrm>
            <a:off x="1838007" y="22098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guerra contra a ambiguidade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51BCCCD-CEE1-EC62-2563-D6D6F12FDD72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439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099FE-65EF-3CA2-9660-86FD161F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F142E2F0-B32E-E936-57AE-DD45DA2E62DB}"/>
              </a:ext>
            </a:extLst>
          </p:cNvPr>
          <p:cNvSpPr txBox="1"/>
          <p:nvPr/>
        </p:nvSpPr>
        <p:spPr>
          <a:xfrm>
            <a:off x="2143443" y="1401306"/>
            <a:ext cx="588645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estrategista não grita com a IA, ele a conduz.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Seu poder é silencioso, feito de ajustes, refinamentos e experimentos.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observa respostas e as trata como reflexos do próprio comando.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o resultado é ruim, ele não culpa a IA — ele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melhora a instrução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Assim, o estrategista cresce a cada interação.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cada tentativa, aprende um pouco mais sobre a mente da máquina — e sobre a sua própria.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Seu domínio não está no controle total, mas na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compreensão profunda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2400" dirty="0"/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8D82AFCE-66E2-881D-1D0C-748A47F7498E}"/>
              </a:ext>
            </a:extLst>
          </p:cNvPr>
          <p:cNvSpPr txBox="1"/>
          <p:nvPr/>
        </p:nvSpPr>
        <p:spPr>
          <a:xfrm>
            <a:off x="1257618" y="22098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controle invisível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298BBB-47D9-198A-DC6F-066F1EC00566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2498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2912-DBE9-855D-32DD-B8D6734FC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9733802A-2F23-C950-1EF7-5EFFFC620CFA}"/>
              </a:ext>
            </a:extLst>
          </p:cNvPr>
          <p:cNvSpPr txBox="1"/>
          <p:nvPr/>
        </p:nvSpPr>
        <p:spPr>
          <a:xfrm>
            <a:off x="1990725" y="1515606"/>
            <a:ext cx="588645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é o chamado do estrategista: o convite à lucidez em meio à avalanche digital.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Enquanto muitos buscam atalhos, o estrategista busca direção.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Enquanto outros produzem volume, ele busca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precisão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sabe que a tecnologia é poderosa, mas inútil sem propósito.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entende que o verdadeiro campo de batalha da inteligência artificial é interno: o domínio da mente antes do domínio da máquina.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 nova guerra da inteligência,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vence quem fala mais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mas quem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pensa melhor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pensar melhor é o primeiro ato de liderança invisível.</a:t>
            </a:r>
          </a:p>
          <a:p>
            <a:endParaRPr lang="pt-BR" sz="2400" dirty="0"/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1F0C8999-08FE-185A-8013-31EB41795E18}"/>
              </a:ext>
            </a:extLst>
          </p:cNvPr>
          <p:cNvSpPr txBox="1"/>
          <p:nvPr/>
        </p:nvSpPr>
        <p:spPr>
          <a:xfrm>
            <a:off x="1257618" y="22098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Chamado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A74B6B-2AB3-DB5D-B263-9B6B9E23B049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522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E95F-EAB7-CF49-634F-2FED3235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rpo">
            <a:extLst>
              <a:ext uri="{FF2B5EF4-FFF2-40B4-BE49-F238E27FC236}">
                <a16:creationId xmlns:a16="http://schemas.microsoft.com/office/drawing/2014/main" id="{FD515C6E-6C90-AA2A-7E82-F5F7F9BB42F6}"/>
              </a:ext>
            </a:extLst>
          </p:cNvPr>
          <p:cNvSpPr txBox="1"/>
          <p:nvPr/>
        </p:nvSpPr>
        <p:spPr>
          <a:xfrm>
            <a:off x="2009774" y="2761476"/>
            <a:ext cx="6772275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1 – Prompt Estratégico (Reflexão e Contexto)</a:t>
            </a:r>
          </a:p>
          <a:p>
            <a:pPr algn="ctr"/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“Explique, em tom inspirador e estratégico, o que significa pensar como um engenheiro de prompt. Use analogias com o papel de um general que planeja antes de agir.”</a:t>
            </a:r>
          </a:p>
          <a:p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que foi formulado assim:</a:t>
            </a:r>
          </a:p>
          <a:p>
            <a:pPr algn="ctr"/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prompt alinha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intenção e tom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guiando a IA a responder com visão e propósito.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metáfora do general cria um contexto mental de disciplina, comando e clareza — temas centrais do capítulo.</a:t>
            </a:r>
          </a:p>
          <a:p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objetivo é gerar respostas com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 de liderança e reflexão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não apenas definições técnicas.</a:t>
            </a:r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pt-BR" sz="2400" b="1" dirty="0"/>
          </a:p>
          <a:p>
            <a:pPr algn="ctr"/>
            <a:endParaRPr lang="pt-BR" sz="4000" b="1" dirty="0"/>
          </a:p>
        </p:txBody>
      </p:sp>
      <p:sp>
        <p:nvSpPr>
          <p:cNvPr id="5" name="Subtítulo">
            <a:extLst>
              <a:ext uri="{FF2B5EF4-FFF2-40B4-BE49-F238E27FC236}">
                <a16:creationId xmlns:a16="http://schemas.microsoft.com/office/drawing/2014/main" id="{A9C9A13B-222F-C0F1-E8F9-316F00AF0EED}"/>
              </a:ext>
            </a:extLst>
          </p:cNvPr>
          <p:cNvSpPr txBox="1"/>
          <p:nvPr/>
        </p:nvSpPr>
        <p:spPr>
          <a:xfrm>
            <a:off x="1744661" y="1306562"/>
            <a:ext cx="6772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Exemplos de prompts inspirados nos princípios deste capítulo.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FC28DFC1-1BD6-63C2-B6EF-500A6791F3A2}"/>
              </a:ext>
            </a:extLst>
          </p:cNvPr>
          <p:cNvSpPr txBox="1"/>
          <p:nvPr/>
        </p:nvSpPr>
        <p:spPr>
          <a:xfrm>
            <a:off x="2543175" y="22098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Conceito à Prática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F86D5E7-63CE-E273-0511-BFDFF4AE41B4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697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B801-CC61-FBC6-AB65-50FA2DD9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rpo">
            <a:extLst>
              <a:ext uri="{FF2B5EF4-FFF2-40B4-BE49-F238E27FC236}">
                <a16:creationId xmlns:a16="http://schemas.microsoft.com/office/drawing/2014/main" id="{BDF01C1B-095C-F0A6-31E2-340F1AE1C858}"/>
              </a:ext>
            </a:extLst>
          </p:cNvPr>
          <p:cNvSpPr txBox="1"/>
          <p:nvPr/>
        </p:nvSpPr>
        <p:spPr>
          <a:xfrm>
            <a:off x="2085974" y="2761476"/>
            <a:ext cx="6772275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2 – Prompt Prático (Aprimoramento e Análise)</a:t>
            </a:r>
          </a:p>
          <a:p>
            <a:pPr algn="ctr"/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“Aja como um especialista em engenharia de prompt. Analise o seguinte comando e sugira melhorias para torná-lo mais claro e estratégico:</a:t>
            </a: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‘Crie um texto sobre o futuro da inteligência artificial.’”</a:t>
            </a:r>
          </a:p>
          <a:p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que foi formulado assim:</a:t>
            </a:r>
          </a:p>
          <a:p>
            <a:pPr algn="ctr"/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 dizer </a:t>
            </a:r>
            <a:r>
              <a:rPr lang="pt-BR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“Aja como um especialista”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 prompt define uma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 experiente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a IA.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Pedir que ela analise e melhore outro comando ativa o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pensamento crítico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 não apenas o criativo.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Isso ensina o leitor 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usar a IA como mentora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não apenas como ferramenta.</a:t>
            </a:r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pt-BR" sz="4000" b="1" dirty="0"/>
          </a:p>
        </p:txBody>
      </p:sp>
      <p:sp>
        <p:nvSpPr>
          <p:cNvPr id="5" name="Subtítulo">
            <a:extLst>
              <a:ext uri="{FF2B5EF4-FFF2-40B4-BE49-F238E27FC236}">
                <a16:creationId xmlns:a16="http://schemas.microsoft.com/office/drawing/2014/main" id="{67ED340D-AE20-E57F-EF7E-E0576635E98C}"/>
              </a:ext>
            </a:extLst>
          </p:cNvPr>
          <p:cNvSpPr txBox="1"/>
          <p:nvPr/>
        </p:nvSpPr>
        <p:spPr>
          <a:xfrm>
            <a:off x="1838325" y="1306562"/>
            <a:ext cx="6772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Exemplos de prompts inspirados nos princípios deste capítulo.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B5515CBC-E969-1B9E-973C-E73B6D45D2EF}"/>
              </a:ext>
            </a:extLst>
          </p:cNvPr>
          <p:cNvSpPr txBox="1"/>
          <p:nvPr/>
        </p:nvSpPr>
        <p:spPr>
          <a:xfrm>
            <a:off x="2371725" y="22098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Conceito à Prática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11C653C-86CC-765E-AE2C-45E9217FFF52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660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09A29-1239-C82F-B895-A646911E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>
            <a:extLst>
              <a:ext uri="{FF2B5EF4-FFF2-40B4-BE49-F238E27FC236}">
                <a16:creationId xmlns:a16="http://schemas.microsoft.com/office/drawing/2014/main" id="{524D80DB-DE7A-B156-CA36-BD257FFA54A8}"/>
              </a:ext>
            </a:extLst>
          </p:cNvPr>
          <p:cNvSpPr/>
          <p:nvPr/>
        </p:nvSpPr>
        <p:spPr>
          <a:xfrm>
            <a:off x="0" y="0"/>
            <a:ext cx="9601200" cy="13487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0" dirty="0">
              <a:latin typeface="Impact" panose="020B0806030902050204" pitchFamily="34" charset="0"/>
            </a:endParaRPr>
          </a:p>
        </p:txBody>
      </p:sp>
      <p:sp>
        <p:nvSpPr>
          <p:cNvPr id="4" name="capítulo 3">
            <a:extLst>
              <a:ext uri="{FF2B5EF4-FFF2-40B4-BE49-F238E27FC236}">
                <a16:creationId xmlns:a16="http://schemas.microsoft.com/office/drawing/2014/main" id="{307211FE-B9D9-F4A1-FEBB-4136EFBC34D3}"/>
              </a:ext>
            </a:extLst>
          </p:cNvPr>
          <p:cNvSpPr txBox="1"/>
          <p:nvPr/>
        </p:nvSpPr>
        <p:spPr>
          <a:xfrm>
            <a:off x="1214439" y="6400800"/>
            <a:ext cx="72285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/>
              <a:t>⚔️</a:t>
            </a:r>
            <a:r>
              <a:rPr lang="pt-BR" sz="8000" dirty="0">
                <a:solidFill>
                  <a:srgbClr val="40D3DD"/>
                </a:solidFill>
                <a:latin typeface="Impact" panose="020B0806030902050204" pitchFamily="34" charset="0"/>
              </a:rPr>
              <a:t>O Campo de Batalha Invisível</a:t>
            </a:r>
          </a:p>
        </p:txBody>
      </p:sp>
      <p:sp>
        <p:nvSpPr>
          <p:cNvPr id="5" name="capítulo 3">
            <a:extLst>
              <a:ext uri="{FF2B5EF4-FFF2-40B4-BE49-F238E27FC236}">
                <a16:creationId xmlns:a16="http://schemas.microsoft.com/office/drawing/2014/main" id="{4E723F76-2398-EDA1-F7A2-6EC69351CBF4}"/>
              </a:ext>
            </a:extLst>
          </p:cNvPr>
          <p:cNvSpPr txBox="1"/>
          <p:nvPr/>
        </p:nvSpPr>
        <p:spPr>
          <a:xfrm>
            <a:off x="1214438" y="2381250"/>
            <a:ext cx="660558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FFC000"/>
                  </a:solidFill>
                </a:ln>
                <a:noFill/>
                <a:latin typeface="Impact" panose="020B0806030902050204" pitchFamily="34" charset="0"/>
              </a:rPr>
              <a:t>02</a:t>
            </a:r>
            <a:endParaRPr lang="pt-BR" sz="11500" dirty="0">
              <a:ln>
                <a:solidFill>
                  <a:srgbClr val="FFC000"/>
                </a:solidFill>
              </a:ln>
              <a:noFill/>
              <a:latin typeface="Impact" panose="020B080603090205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A0EE7D-2363-E6E2-7E67-A77319629793}"/>
              </a:ext>
            </a:extLst>
          </p:cNvPr>
          <p:cNvSpPr/>
          <p:nvPr/>
        </p:nvSpPr>
        <p:spPr>
          <a:xfrm>
            <a:off x="1214438" y="9235440"/>
            <a:ext cx="7228522" cy="18288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pítulo 3">
            <a:extLst>
              <a:ext uri="{FF2B5EF4-FFF2-40B4-BE49-F238E27FC236}">
                <a16:creationId xmlns:a16="http://schemas.microsoft.com/office/drawing/2014/main" id="{BA3280BA-320F-2379-1852-EA627E244BA3}"/>
              </a:ext>
            </a:extLst>
          </p:cNvPr>
          <p:cNvSpPr txBox="1"/>
          <p:nvPr/>
        </p:nvSpPr>
        <p:spPr>
          <a:xfrm>
            <a:off x="514350" y="9697073"/>
            <a:ext cx="90868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Antes de qualquer vitória, o estrategista precisa conhecer o terreno onde luta.</a:t>
            </a:r>
            <a:br>
              <a:rPr lang="pt-BR" sz="2000" dirty="0">
                <a:solidFill>
                  <a:schemeClr val="bg1"/>
                </a:solidFill>
              </a:rPr>
            </a:br>
            <a:r>
              <a:rPr lang="pt-BR" sz="2000" dirty="0">
                <a:solidFill>
                  <a:schemeClr val="bg1"/>
                </a:solidFill>
              </a:rPr>
              <a:t>Na era da inteligência artificial, esse terreno não é físico — é </a:t>
            </a:r>
            <a:r>
              <a:rPr lang="pt-BR" sz="2000" b="1" dirty="0">
                <a:solidFill>
                  <a:schemeClr val="bg1"/>
                </a:solidFill>
              </a:rPr>
              <a:t>conceitual, linguístico e invisível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  <a:br>
              <a:rPr lang="pt-BR" sz="2000" dirty="0">
                <a:solidFill>
                  <a:schemeClr val="bg1"/>
                </a:solidFill>
              </a:rPr>
            </a:br>
            <a:r>
              <a:rPr lang="pt-BR" sz="2000" dirty="0">
                <a:solidFill>
                  <a:schemeClr val="bg1"/>
                </a:solidFill>
              </a:rPr>
              <a:t>Ele não é feito de montanhas e vales, mas de tokens, parâmetros e padrões estatísticos.</a:t>
            </a:r>
            <a:br>
              <a:rPr lang="pt-BR" sz="2000" dirty="0">
                <a:solidFill>
                  <a:schemeClr val="bg1"/>
                </a:solidFill>
              </a:rPr>
            </a:br>
            <a:r>
              <a:rPr lang="pt-BR" sz="2000" dirty="0">
                <a:solidFill>
                  <a:schemeClr val="bg1"/>
                </a:solidFill>
              </a:rPr>
              <a:t>E, ainda assim, é um campo de batalha real, onde apenas os que compreendem o funcionamento da mente da máquina podem vencer com precisão.</a:t>
            </a:r>
            <a:endParaRPr lang="pt-BR" sz="2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526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00203-5646-1E47-EC55-10679E24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6AAF1E04-5BD2-C1DD-863C-1DE3193565B8}"/>
              </a:ext>
            </a:extLst>
          </p:cNvPr>
          <p:cNvSpPr txBox="1"/>
          <p:nvPr/>
        </p:nvSpPr>
        <p:spPr>
          <a:xfrm>
            <a:off x="2410936" y="1804391"/>
            <a:ext cx="588645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Tzu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dizia que aquele que conhece o inimigo e conhece a si mesmo jamais será derrotado.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mundo moderno, o “inimigo” não é a IA — é 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ignorância sobre como ela pensa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inteligência artificial generativa não raciocina como o ser humano.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 não entende, sente ou julga.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prediz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palavra por palavra, ideia por ideia, com base nas probabilidades aprendidas de trilhões de exemplos.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o estrategista, compreender isso é essencial.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Pois enquanto o leigo acredita que a IA “sabe”, o estrategista entende que ela apenas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reconstrói padrões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conhecimento.</a:t>
            </a:r>
          </a:p>
          <a:p>
            <a:endParaRPr lang="pt-BR" sz="2400" dirty="0"/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D29E20F4-5EAC-0F69-61E7-6648906E0DE7}"/>
              </a:ext>
            </a:extLst>
          </p:cNvPr>
          <p:cNvSpPr txBox="1"/>
          <p:nvPr/>
        </p:nvSpPr>
        <p:spPr>
          <a:xfrm>
            <a:off x="1679892" y="240476"/>
            <a:ext cx="7348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Conhecer o terreno é conhecer a si mesmo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40038D4-E232-5787-56C5-310961B21024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9674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7CAFE-0D06-7ACC-34BF-EE59D481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602AF887-7EB4-6F68-E13D-C769F75AE1BB}"/>
              </a:ext>
            </a:extLst>
          </p:cNvPr>
          <p:cNvSpPr txBox="1"/>
          <p:nvPr/>
        </p:nvSpPr>
        <p:spPr>
          <a:xfrm>
            <a:off x="2410936" y="1648956"/>
            <a:ext cx="588645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 guerra precisa de um mapa.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o mapa da IA é feito de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linguagem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palavra dita, cada vírgula usada, cada detalhe omitido — tudo muda a direção da resposta.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trás do texto, há um motor matemático que interpreta linguagem natural como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sequências de probabilidade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um estrategista escreve um prompt, ele está, na verdade,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navegando por esse terreno invisível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conduzindo a IA por caminhos de raciocínio possíveis.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Aqueles que não entendem isso se perdem em resultados superficiais.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 o estrategista domina o vocabulário como um soldado domina o território: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sabendo onde pisar, o que evitar e quando avançar.</a:t>
            </a: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5862DA56-2754-9647-4657-909C4BF4CB53}"/>
              </a:ext>
            </a:extLst>
          </p:cNvPr>
          <p:cNvSpPr txBox="1"/>
          <p:nvPr/>
        </p:nvSpPr>
        <p:spPr>
          <a:xfrm>
            <a:off x="1679892" y="240476"/>
            <a:ext cx="7348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campo invisível da linguagem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78323F-1877-35AA-37FE-F55F6568BBEA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600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3EDF-3A8F-7796-F293-460BA208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F8EED003-6E4F-46F8-250E-D58ADE144198}"/>
              </a:ext>
            </a:extLst>
          </p:cNvPr>
          <p:cNvSpPr txBox="1"/>
          <p:nvPr/>
        </p:nvSpPr>
        <p:spPr>
          <a:xfrm>
            <a:off x="2091690" y="1648956"/>
            <a:ext cx="588645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terreno da IA é neutro, mas implacável.</a:t>
            </a:r>
            <a:br>
              <a:rPr lang="pt-BR" sz="2400" dirty="0"/>
            </a:br>
            <a:r>
              <a:rPr lang="pt-BR" sz="2400" dirty="0"/>
              <a:t>Ele recompensa a clareza e pune a confusão.</a:t>
            </a:r>
            <a:br>
              <a:rPr lang="pt-BR" sz="2400" dirty="0"/>
            </a:br>
            <a:r>
              <a:rPr lang="pt-BR" sz="2400" dirty="0"/>
              <a:t>Ele amplia intenções coerentes e distorce ordens vagas.</a:t>
            </a:r>
          </a:p>
          <a:p>
            <a:endParaRPr lang="pt-BR" sz="2400" dirty="0"/>
          </a:p>
          <a:p>
            <a:r>
              <a:rPr lang="pt-BR" sz="2400" dirty="0"/>
              <a:t>Assim, o estrategista aprende a jogar segundo três leis invisíveis:</a:t>
            </a:r>
          </a:p>
          <a:p>
            <a:endParaRPr lang="pt-BR" sz="2400" dirty="0"/>
          </a:p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Lei da Precisão</a:t>
            </a:r>
            <a:r>
              <a:rPr lang="pt-BR" sz="2400" dirty="0"/>
              <a:t> – A IA responde melhor a comandos exatos. Quanto mais específico, mais estratégico.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Lei do Contexto</a:t>
            </a:r>
            <a:r>
              <a:rPr lang="pt-BR" sz="2400" dirty="0"/>
              <a:t> – A resposta depende do cenário que o humano cria. Contexto é bússola.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Lei da Iteração</a:t>
            </a:r>
            <a:r>
              <a:rPr lang="pt-BR" sz="2400" dirty="0"/>
              <a:t> – Nenhuma instrução é final; cada iteração é um ajuste tático.</a:t>
            </a:r>
          </a:p>
          <a:p>
            <a:r>
              <a:rPr lang="pt-BR" sz="2400" dirty="0"/>
              <a:t>Essas leis são o código de conduta do engenheiro de prompt.</a:t>
            </a:r>
            <a:br>
              <a:rPr lang="pt-BR" sz="2400" dirty="0"/>
            </a:br>
            <a:r>
              <a:rPr lang="pt-BR" sz="2400" dirty="0"/>
              <a:t>Ignorá-las é agir no escuro.</a:t>
            </a:r>
            <a:br>
              <a:rPr lang="pt-BR" sz="2400" dirty="0"/>
            </a:br>
            <a:r>
              <a:rPr lang="pt-BR" sz="2400" dirty="0"/>
              <a:t>Aplicá-las é </a:t>
            </a:r>
            <a:r>
              <a:rPr lang="pt-BR" sz="2400" b="1" dirty="0"/>
              <a:t>enxergar o campo antes da batalha</a:t>
            </a:r>
            <a:r>
              <a:rPr lang="pt-BR" sz="2400" dirty="0"/>
              <a:t>.</a:t>
            </a: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8A4D2D71-DEBD-E73F-678B-F6B7FA7AC579}"/>
              </a:ext>
            </a:extLst>
          </p:cNvPr>
          <p:cNvSpPr txBox="1"/>
          <p:nvPr/>
        </p:nvSpPr>
        <p:spPr>
          <a:xfrm>
            <a:off x="1126331" y="327660"/>
            <a:ext cx="7348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regras do campo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F3D186C-CD61-0027-4502-F3D73E9577B9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370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BDC57-35C0-EF54-7AD0-1334B0D2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2D5C0075-D29F-D1A9-952F-496E290CA317}"/>
              </a:ext>
            </a:extLst>
          </p:cNvPr>
          <p:cNvSpPr txBox="1"/>
          <p:nvPr/>
        </p:nvSpPr>
        <p:spPr>
          <a:xfrm>
            <a:off x="2091690" y="1744206"/>
            <a:ext cx="588645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estrategista não vê apenas o que está escrito — ele vê o que a máquina </a:t>
            </a:r>
            <a:r>
              <a:rPr lang="pt-BR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vai entender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antecipa interpretações, previne ambiguidades e estrutura raciocínios como quem constrói uma ponte entre dois mundos: o humano e o digital.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Enquanto o operador pensa “o que quero dizer?”, o estrategista pensa “como a IA vai interpretar isso?”.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Essa mudança de mentalidade é o divisor de águas.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guerra invisível não é contra a tecnologia, mas contra a própria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pressa humana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verdadeiro domínio nasce quando se aprende a desacelerar o gesto e acelerar o pensamento.</a:t>
            </a: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8C2722F7-C11D-EFB4-8F04-541A0784186F}"/>
              </a:ext>
            </a:extLst>
          </p:cNvPr>
          <p:cNvSpPr txBox="1"/>
          <p:nvPr/>
        </p:nvSpPr>
        <p:spPr>
          <a:xfrm>
            <a:off x="1126331" y="327660"/>
            <a:ext cx="7348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percepção do invisível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2F5B468-5C65-2D3D-7E97-9396B9ED1C7E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9774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7F549-6A14-06AC-30AD-88F1A222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8279FC30-B4CA-89FA-36D6-67CE90EA40DD}"/>
              </a:ext>
            </a:extLst>
          </p:cNvPr>
          <p:cNvSpPr txBox="1"/>
          <p:nvPr/>
        </p:nvSpPr>
        <p:spPr>
          <a:xfrm>
            <a:off x="2091690" y="1896606"/>
            <a:ext cx="588645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mente humana é intuitiva; a máquina é literal.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estrategista é o tradutor entre essas duas formas de pensar.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não tenta humanizar a IA — ele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otimiza a comunicação com ela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 aprender a “falar IA”, o estrategista expande sua própria inteligência.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passa a raciocinar em camadas, organizando o pensamento de modo lógico, contextual e produtivo.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 é o segredo do campo de batalha invisível: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basta conhecer a máquina, é preciso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compreender a linguagem que ela compreende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CA36D123-B58B-BC3D-8450-916146B5B601}"/>
              </a:ext>
            </a:extLst>
          </p:cNvPr>
          <p:cNvSpPr txBox="1"/>
          <p:nvPr/>
        </p:nvSpPr>
        <p:spPr>
          <a:xfrm>
            <a:off x="1360646" y="175260"/>
            <a:ext cx="7348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estrategista como tradutor entre mentes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5669870-0A2D-6113-CD21-EC4003031D1E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2902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86190-0237-BABC-C020-B9EC3332A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BC19D414-CF4C-B6C1-71E0-4505DBFE5006}"/>
              </a:ext>
            </a:extLst>
          </p:cNvPr>
          <p:cNvSpPr txBox="1"/>
          <p:nvPr/>
        </p:nvSpPr>
        <p:spPr>
          <a:xfrm>
            <a:off x="2091690" y="1896606"/>
            <a:ext cx="588645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Todo mapa é uma simplificação da realidade.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 mesma forma, cada prompt é uma versão simplificada do pensamento humano.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Cabe ao estrategista torná-lo completo o suficiente para ser útil e enxuto o bastante para ser compreensível.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campo invisível,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excesso de palavras é tão perigoso quanto a falta de precisão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prompt longo pode confundir.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prompt curto demais pode ser mal interpretado.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arte está no equilíbrio — o ponto onde a clareza encontra a eficácia.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estrategista entende que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IA não erra — ela obedece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se o resultado é insatisfatório, é porque a ordem não foi clara.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Essa é a humildade e a responsabilidade de quem domina o terreno.</a:t>
            </a: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AF708A22-53E0-6BED-865D-F3F59DC14206}"/>
              </a:ext>
            </a:extLst>
          </p:cNvPr>
          <p:cNvSpPr txBox="1"/>
          <p:nvPr/>
        </p:nvSpPr>
        <p:spPr>
          <a:xfrm>
            <a:off x="1360646" y="175260"/>
            <a:ext cx="7348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mapa e o terreno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9A4A371-72D6-CFA0-6287-60FC8369E1C9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5140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BFB8-F889-5449-D91F-70BAF69E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">
            <a:extLst>
              <a:ext uri="{FF2B5EF4-FFF2-40B4-BE49-F238E27FC236}">
                <a16:creationId xmlns:a16="http://schemas.microsoft.com/office/drawing/2014/main" id="{34799D8E-0B85-2339-018F-E30A0E39D569}"/>
              </a:ext>
            </a:extLst>
          </p:cNvPr>
          <p:cNvSpPr txBox="1"/>
          <p:nvPr/>
        </p:nvSpPr>
        <p:spPr>
          <a:xfrm>
            <a:off x="2091690" y="1896606"/>
            <a:ext cx="588645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Dominar o campo invisível exige um novo olhar:</a:t>
            </a:r>
            <a:br>
              <a:rPr lang="pt-BR" sz="2400" dirty="0"/>
            </a:br>
            <a:r>
              <a:rPr lang="pt-BR" sz="2400" dirty="0"/>
              <a:t>um olhar que enxerga </a:t>
            </a:r>
            <a:r>
              <a:rPr lang="pt-BR" sz="2400" b="1" dirty="0"/>
              <a:t>estrutura, intenção e consequência</a:t>
            </a:r>
            <a:r>
              <a:rPr lang="pt-BR" sz="2400" dirty="0"/>
              <a:t> em cada comando.</a:t>
            </a:r>
            <a:br>
              <a:rPr lang="pt-BR" sz="2400" dirty="0"/>
            </a:br>
            <a:r>
              <a:rPr lang="pt-BR" sz="2400" dirty="0"/>
              <a:t>O estrategista não pergunta “o que posso fazer com a IA?”, mas “o que a IA pode fazer </a:t>
            </a:r>
            <a:r>
              <a:rPr lang="pt-BR" sz="2400" i="1" dirty="0"/>
              <a:t>comigo</a:t>
            </a:r>
            <a:r>
              <a:rPr lang="pt-BR" sz="2400" dirty="0"/>
              <a:t> se eu souber orientá-la?”.</a:t>
            </a:r>
          </a:p>
          <a:p>
            <a:endParaRPr lang="pt-BR" sz="2400" dirty="0"/>
          </a:p>
          <a:p>
            <a:r>
              <a:rPr lang="pt-BR" sz="2400" dirty="0"/>
              <a:t>Ele entende que o verdadeiro poder não está no comando, mas </a:t>
            </a:r>
            <a:r>
              <a:rPr lang="pt-BR" sz="2400" b="1" dirty="0"/>
              <a:t>na consciência de quem o emite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/>
              <a:t>E quando essa consciência é disciplinada, a máquina se torna extensão da mente humana.</a:t>
            </a:r>
          </a:p>
          <a:p>
            <a:endParaRPr lang="pt-BR" sz="2400" dirty="0"/>
          </a:p>
          <a:p>
            <a:r>
              <a:rPr lang="pt-BR" sz="2400" dirty="0"/>
              <a:t>No final, o campo de batalha invisível é um espelho.</a:t>
            </a:r>
            <a:br>
              <a:rPr lang="pt-BR" sz="2400" dirty="0"/>
            </a:br>
            <a:r>
              <a:rPr lang="pt-BR" sz="2400" dirty="0"/>
              <a:t>Reflete a qualidade da mente que o opera.</a:t>
            </a: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DB798FEE-8E96-2AA8-0FCA-4074449A7DF5}"/>
              </a:ext>
            </a:extLst>
          </p:cNvPr>
          <p:cNvSpPr txBox="1"/>
          <p:nvPr/>
        </p:nvSpPr>
        <p:spPr>
          <a:xfrm>
            <a:off x="1360646" y="175260"/>
            <a:ext cx="7348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olhar do estrategista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9D76436-5253-AD10-C30D-7A484C011895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9713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4875-12CF-F8F3-6ED7-650C019F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rpo">
            <a:extLst>
              <a:ext uri="{FF2B5EF4-FFF2-40B4-BE49-F238E27FC236}">
                <a16:creationId xmlns:a16="http://schemas.microsoft.com/office/drawing/2014/main" id="{4E62503B-724C-9FF4-9099-FC09D1C41B2A}"/>
              </a:ext>
            </a:extLst>
          </p:cNvPr>
          <p:cNvSpPr txBox="1"/>
          <p:nvPr/>
        </p:nvSpPr>
        <p:spPr>
          <a:xfrm>
            <a:off x="2085974" y="2761476"/>
            <a:ext cx="6772275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🧠 Exemplo 1 – Prompt Estratégico (Compreensão do Terreno)</a:t>
            </a:r>
          </a:p>
          <a:p>
            <a:pPr algn="ctr"/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“Explique, em tom inspirador e estratégico, o que significa pensar como um engenheiro de prompt. Use analogias com o papel de um general que planeja antes de agir.”</a:t>
            </a:r>
          </a:p>
          <a:p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Por que foi formulado assim:</a:t>
            </a:r>
          </a:p>
          <a:p>
            <a:pPr algn="ctr"/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prompt alinha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intenção e tom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guiando a IA a responder com visão e propósito.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metáfora do general cria um contexto mental de disciplina, comando e clareza — temas centrais do capítulo.</a:t>
            </a:r>
          </a:p>
          <a:p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objetivo é gerar respostas com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 de liderança e reflexão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não apenas definições técnicas.</a:t>
            </a:r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pt-BR" sz="4000" b="1" dirty="0"/>
          </a:p>
        </p:txBody>
      </p:sp>
      <p:sp>
        <p:nvSpPr>
          <p:cNvPr id="5" name="Subtítulo">
            <a:extLst>
              <a:ext uri="{FF2B5EF4-FFF2-40B4-BE49-F238E27FC236}">
                <a16:creationId xmlns:a16="http://schemas.microsoft.com/office/drawing/2014/main" id="{5D9BAE34-DE5A-0573-7BF9-218F09F2F705}"/>
              </a:ext>
            </a:extLst>
          </p:cNvPr>
          <p:cNvSpPr txBox="1"/>
          <p:nvPr/>
        </p:nvSpPr>
        <p:spPr>
          <a:xfrm>
            <a:off x="1590675" y="1370885"/>
            <a:ext cx="6772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Exemplos de prompts inspirados nos princípios deste capítulo.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21B6FE1D-667D-6C9B-3E75-75599D73C992}"/>
              </a:ext>
            </a:extLst>
          </p:cNvPr>
          <p:cNvSpPr txBox="1"/>
          <p:nvPr/>
        </p:nvSpPr>
        <p:spPr>
          <a:xfrm>
            <a:off x="2371725" y="44196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Conceito à Prática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69FD0C5-8D24-9446-EFBD-81698D3AFDA1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665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8646-FB82-946B-A291-A40129A96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rpo">
            <a:extLst>
              <a:ext uri="{FF2B5EF4-FFF2-40B4-BE49-F238E27FC236}">
                <a16:creationId xmlns:a16="http://schemas.microsoft.com/office/drawing/2014/main" id="{D7E16EDC-EF3B-446D-1132-D7DCD1F8301F}"/>
              </a:ext>
            </a:extLst>
          </p:cNvPr>
          <p:cNvSpPr txBox="1"/>
          <p:nvPr/>
        </p:nvSpPr>
        <p:spPr>
          <a:xfrm>
            <a:off x="2085974" y="2761476"/>
            <a:ext cx="677227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⚔️ Exemplo 2 – Prompt Prático (Análise de Campo)</a:t>
            </a: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“Aja como um estrategista de IA. Avalie o seguinte comando e descreva possíveis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ambiguidades:‘Crie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um artigo sobre inovação e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tecnologia.’Mostre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como ele pode ser reescrito para obter resultados mais precisos.”</a:t>
            </a:r>
          </a:p>
          <a:p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Por que foi formulado assim:</a:t>
            </a:r>
          </a:p>
          <a:p>
            <a:pPr algn="ctr"/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IA é colocada no papel de analista — o que a faz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 erros e oferecer soluções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comando ativa o raciocínio tático: perceber falhas de contexto, de objetivo e de formato.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um exercício direto de leitura do terreno linguístico.</a:t>
            </a:r>
            <a:endParaRPr lang="pt-BR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">
            <a:extLst>
              <a:ext uri="{FF2B5EF4-FFF2-40B4-BE49-F238E27FC236}">
                <a16:creationId xmlns:a16="http://schemas.microsoft.com/office/drawing/2014/main" id="{BE5599BA-2FAC-8000-FA3E-D5CAECDCCEAB}"/>
              </a:ext>
            </a:extLst>
          </p:cNvPr>
          <p:cNvSpPr txBox="1"/>
          <p:nvPr/>
        </p:nvSpPr>
        <p:spPr>
          <a:xfrm>
            <a:off x="1590675" y="1370885"/>
            <a:ext cx="6772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Exemplos de prompts inspirados nos princípios deste capítulo.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022F254C-D022-85E3-9101-8B53554F3C4B}"/>
              </a:ext>
            </a:extLst>
          </p:cNvPr>
          <p:cNvSpPr txBox="1"/>
          <p:nvPr/>
        </p:nvSpPr>
        <p:spPr>
          <a:xfrm>
            <a:off x="2371725" y="44196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Conceito à Prática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249C4FA-1D4F-7EDE-CCBC-C36168629914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869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4EDF-5335-2D1C-D3B3-A2D72A03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rpo">
            <a:extLst>
              <a:ext uri="{FF2B5EF4-FFF2-40B4-BE49-F238E27FC236}">
                <a16:creationId xmlns:a16="http://schemas.microsoft.com/office/drawing/2014/main" id="{D28491EF-D0E5-55B7-675A-B2BCE5635D4C}"/>
              </a:ext>
            </a:extLst>
          </p:cNvPr>
          <p:cNvSpPr txBox="1"/>
          <p:nvPr/>
        </p:nvSpPr>
        <p:spPr>
          <a:xfrm>
            <a:off x="2085974" y="2761476"/>
            <a:ext cx="6772275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Exemplo 3 – Prompt Criativo (Construção de Contexto)</a:t>
            </a:r>
          </a:p>
          <a:p>
            <a:pPr algn="ctr"/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“Crie um texto curto, com até 150 palavras, explicando o conceito de ‘campo de batalha invisível’ aplicado à IA. O texto deve soar como um trecho de um livro de estratégia.”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Por que foi formulado assim: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prompt traduz a filosofia do capítulo em aplicação criativa.</a:t>
            </a: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 o tamanho obriga a IA a ser precisa.</a:t>
            </a: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Pedir o estilo de “livro de estratégia” dá direção de tom, ritmo e vocabulário.</a:t>
            </a: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resultado é um texto denso, claro e simbólico — como a mente do estrategista.</a:t>
            </a:r>
            <a:endParaRPr lang="pt-BR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">
            <a:extLst>
              <a:ext uri="{FF2B5EF4-FFF2-40B4-BE49-F238E27FC236}">
                <a16:creationId xmlns:a16="http://schemas.microsoft.com/office/drawing/2014/main" id="{D41BC3D5-67B0-60DF-ED73-DE78E948181E}"/>
              </a:ext>
            </a:extLst>
          </p:cNvPr>
          <p:cNvSpPr txBox="1"/>
          <p:nvPr/>
        </p:nvSpPr>
        <p:spPr>
          <a:xfrm>
            <a:off x="1590675" y="1370885"/>
            <a:ext cx="6772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Exemplos de prompts inspirados nos princípios deste capítulo.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941BFA97-1F4D-7BBE-1B9A-D1BA4D9E8784}"/>
              </a:ext>
            </a:extLst>
          </p:cNvPr>
          <p:cNvSpPr txBox="1"/>
          <p:nvPr/>
        </p:nvSpPr>
        <p:spPr>
          <a:xfrm>
            <a:off x="2371725" y="441960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Conceito à Prática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5873C5-D314-0B3B-5DA4-8B613C912175}"/>
              </a:ext>
            </a:extLst>
          </p:cNvPr>
          <p:cNvSpPr/>
          <p:nvPr/>
        </p:nvSpPr>
        <p:spPr>
          <a:xfrm>
            <a:off x="1571307" y="0"/>
            <a:ext cx="108585" cy="1149846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E5AC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647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3158</TotalTime>
  <Words>2693</Words>
  <Application>Microsoft Office PowerPoint</Application>
  <PresentationFormat>Papel A3 (297 x 420 mm)</PresentationFormat>
  <Paragraphs>164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Karen Warren</dc:creator>
  <cp:lastModifiedBy>Karen Warren</cp:lastModifiedBy>
  <cp:revision>10</cp:revision>
  <dcterms:created xsi:type="dcterms:W3CDTF">2025-10-21T17:56:54Z</dcterms:created>
  <dcterms:modified xsi:type="dcterms:W3CDTF">2025-11-03T21:48:59Z</dcterms:modified>
</cp:coreProperties>
</file>